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5243048" cy="8577072"/>
  <p:notesSz cx="8577072" cy="15243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C62828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51354" y="3034754"/>
            <a:ext cx="1033729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2814"/>
              </a:spcBef>
              <a:spcAft>
                <a:spcPts val="2400"/>
              </a:spcAft>
              <a:buNone/>
            </a:pPr>
            <a:r>
              <a:rPr lang="en-US" sz="42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元旦：传统节日的现代商业机遇与市场洞察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667500" y="4284315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1936" y="4901505"/>
            <a:ext cx="559612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24"/>
              </a:lnSpc>
              <a:spcBef>
                <a:spcPts val="2160"/>
              </a:spcBef>
              <a:spcAft>
                <a:spcPts val="4800"/>
              </a:spcAft>
              <a:buNone/>
            </a:pPr>
            <a:r>
              <a:rPr lang="en-US" sz="216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传统节日文化与现代消费趋势的融合分析报告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381000" y="73152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73152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7315200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630838" y="7839075"/>
            <a:ext cx="228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204913"/>
            <a:ext cx="14478000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381000"/>
            <a:ext cx="14767560" cy="657225"/>
          </a:xfrm>
          <a:prstGeom prst="rect">
            <a:avLst/>
          </a:prstGeom>
          <a:noFill/>
          <a:ln/>
        </p:spPr>
        <p:txBody>
          <a:bodyPr wrap="square" lIns="0" tIns="0" rIns="0" bIns="1524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情境：元旦作为全球性新年与重要传统节日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47675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C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基本定义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676400"/>
            <a:ext cx="1476756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元旦，即公历的1月1日，是世界多数国家通称的“新年”。“元”谓“始”，凡数之始称为“元”；“旦”谓“日”；“元旦”即“初始之日”，指每年公历新年的第一天。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072580"/>
            <a:ext cx="14478000" cy="581025"/>
          </a:xfrm>
          <a:prstGeom prst="roundRect">
            <a:avLst>
              <a:gd name="adj" fmla="val 1311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2072580"/>
            <a:ext cx="0" cy="581025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2263080"/>
            <a:ext cx="143400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作为全球性节日，元旦标志着新一年的开始，是各国进行庆祝、总结与规划的重要时间节点。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2958405"/>
            <a:ext cx="4673650" cy="5233095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81000" y="2986980"/>
            <a:ext cx="4673650" cy="0"/>
          </a:xfrm>
          <a:prstGeom prst="line">
            <a:avLst/>
          </a:prstGeom>
          <a:noFill/>
          <a:ln w="5715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25155"/>
            <a:ext cx="414533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4530030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历史起源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4939605"/>
            <a:ext cx="414533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元旦一词最早出现在《晋书》中：“颛帝以孟夏正月为元，其时正朔元旦之春”。这里的“颛帝”即传说中的三皇五帝之一——颛顼。历代皇朝均在元旦举行庆贺典仪祈祀等活动。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3250" y="2958405"/>
            <a:ext cx="4673650" cy="5233095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83250" y="2986980"/>
            <a:ext cx="4673650" cy="0"/>
          </a:xfrm>
          <a:prstGeom prst="line">
            <a:avLst/>
          </a:prstGeom>
          <a:noFill/>
          <a:ln w="5715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8050" y="3625155"/>
            <a:ext cx="414533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🎎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88050" y="4530030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文化定义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88050" y="4939605"/>
            <a:ext cx="414533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元旦是我国一个古老的节日，也是全年最重要的节日之一。它不仅是时间更替的标志，更承载着辞旧迎新、祈福纳祥的文化内涵，体现了中华民族对美好生活的向往。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85499" y="2958405"/>
            <a:ext cx="4673650" cy="5233095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0185499" y="2986980"/>
            <a:ext cx="4673650" cy="0"/>
          </a:xfrm>
          <a:prstGeom prst="line">
            <a:avLst/>
          </a:prstGeom>
          <a:noFill/>
          <a:ln w="5715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90299" y="3625155"/>
            <a:ext cx="414533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🏮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490299" y="4530030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传统习俗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490299" y="4939605"/>
            <a:ext cx="4064050" cy="131802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祭祖祭神：</a:t>
            </a:r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表达对祖先的敬意与对未来的祈福。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贴春联、写福字：</a:t>
            </a:r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营造喜庆氛围，寄托美好愿望。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守岁、吃团圆饭：</a:t>
            </a:r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家庭团聚，共迎新年。</a:t>
            </a:r>
            <a:endParaRPr lang="en-US" sz="1200" dirty="0"/>
          </a:p>
          <a:p>
            <a:pPr algn="l" marL="190500" indent="-190500">
              <a:lnSpc>
                <a:spcPts val="192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舞龙灯、社火等娱乐活动：</a:t>
            </a:r>
            <a:pPr algn="l" indent="0" marL="0">
              <a:lnSpc>
                <a:spcPts val="192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民间欢庆，增添节日气氛。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590216" y="8010525"/>
            <a:ext cx="2741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052513"/>
            <a:ext cx="7620000" cy="0"/>
          </a:xfrm>
          <a:prstGeom prst="line">
            <a:avLst/>
          </a:prstGeom>
          <a:noFill/>
          <a:ln w="28575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1000" y="381000"/>
            <a:ext cx="7772400" cy="657225"/>
          </a:xfrm>
          <a:prstGeom prst="rect">
            <a:avLst/>
          </a:prstGeom>
          <a:noFill/>
          <a:ln/>
        </p:spPr>
        <p:txBody>
          <a:bodyPr wrap="square" lIns="0" tIns="0" rIns="0" bIns="15240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冲突：传统节日与现代消费需求的碰撞与机遇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5311" y="533400"/>
            <a:ext cx="228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371600"/>
            <a:ext cx="4622750" cy="17145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371600"/>
            <a:ext cx="0" cy="171450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700" y="1600200"/>
            <a:ext cx="42099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假期安排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7700" y="1971675"/>
            <a:ext cx="42099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2026年元旦放假3天（1月1日至1月3日），为短途旅行、家庭聚会和新兴娱乐消费创造了时间窗口。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8550" y="1371600"/>
            <a:ext cx="4622750" cy="17145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27600" y="1371600"/>
            <a:ext cx="0" cy="171450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5250" y="1600200"/>
            <a:ext cx="42099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旅游热度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5250" y="1971675"/>
            <a:ext cx="42099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元旦旅游市场热度显著攀升，全国酒店预订量同比增长超过3倍，演唱会等大型活动成为核心驱动力。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36101" y="1371600"/>
            <a:ext cx="4622750" cy="171450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0255151" y="1371600"/>
            <a:ext cx="0" cy="1714500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02801" y="1600200"/>
            <a:ext cx="42099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消费趋势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02801" y="1971675"/>
            <a:ext cx="420999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跨年方式多元化，演唱会、烟花秀、主题乐园等体验式消费取代传统聚餐，成为年轻消费群体的首选。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6220" y="3390900"/>
            <a:ext cx="147675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121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2026年元旦热门城市酒店预订同比增长趋势（数据来源：去哪儿旅行、同程旅行报告）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000" y="3743325"/>
            <a:ext cx="14478000" cy="405765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>
            <a:outerShdw sx="100000" sy="100000" kx="0" ky="0" algn="bl" rotWithShape="0" blurRad="1143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220" y="7877175"/>
            <a:ext cx="147675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注：南宁因大型演唱会带动，酒店预订量同比增长达17倍，凸显事件营销对节日消费的强劲拉动作用。</a:t>
            </a:r>
            <a:endParaRPr lang="en-US" sz="10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25" y="3943350"/>
            <a:ext cx="1407795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2025-12-15T05:12:04Z</dcterms:created>
  <dcterms:modified xsi:type="dcterms:W3CDTF">2025-12-15T05:12:04Z</dcterms:modified>
</cp:coreProperties>
</file>